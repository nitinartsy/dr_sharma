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6"/>
  </p:normalViewPr>
  <p:slideViewPr>
    <p:cSldViewPr snapToGrid="0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02563-4E21-A4C3-2A94-244F6406B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4C1CD-A79E-9D18-72B1-09BEF88CE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B56DC-D239-9CBD-2B9C-478F7260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192E1-77BC-E9E2-CFAF-33E42D5E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EDBB7-D484-0EC1-3C0A-F455D258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07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6CE6-3507-86AB-8D30-67DF2213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683C-EABB-761B-E54C-FB894AC95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BB7D2-5D57-2ADB-E08B-9E9CDD27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76029-1D03-27B0-3B63-62461045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5A459-B096-A4CC-976B-D4BEEDF9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9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6264-75E9-43EF-3EED-03BD53B2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BE4FF-56D7-B70C-885B-C6C2FA840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069A2-19DF-56BB-6289-0F34410A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BFBE8-26EB-E52D-19AF-58B30036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88C58-CB73-3488-5E13-0246F054A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1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04A0-E33A-C7F6-BFAD-2FB6C181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7A4FD-EAE7-0E75-9593-55A9EC5A5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E8B846-E6F1-D470-8545-0E0273B18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4D176-210F-0D87-BB8B-95134EC1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595DB-6AC8-E70B-C247-138666BB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92B21-8DB7-23EE-6D5A-2E7F3145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3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4D7A-2E15-7188-B38A-2B77AF9B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D71AC-191B-B3C7-98B5-7FFC93A38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BB1D9-D713-3755-EB9D-142F5BD7E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74AA0-668F-0B8A-203A-4B46438B5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2853D-38C6-EE86-65F0-7B4D78749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1A3A9-FC29-ADC5-E23F-32656F9E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91E0B9-D040-A38A-75B0-FF86DAC7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36691-C86A-6ECF-E561-EBE7C0AE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7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12E7-6DA4-FB38-7048-F255CF1F8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217A-1B69-0C68-D68D-747533584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6EFE0-A7B1-1B67-D1BB-D2DBF594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1C1D66-137B-2583-6940-B4020A00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2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F75BC-98BC-D09E-62A7-40F3A45A7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92AC8-7166-E02E-B89A-D07998EB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E321E-87D5-7AC7-8E58-CBDB7FC2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22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9B06-AE1C-94C2-5178-93007186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43754-BEE4-7142-C2A0-44AEE21D9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F2F91-47B6-99A5-2D2E-CE5AE8FF5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CD070-69E4-3C7A-35F9-0A0C1B81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04270-854E-6EA6-FFEF-4987D711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9D6F2-6549-9F6C-587A-62BE6EDB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4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EAA4-575D-0DB2-A34B-A7221B36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55A8AD-47A1-49D1-0E6F-CAD87C8FF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85333-85AD-D07D-FBCC-5F571B2E1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1B15D-D097-4080-D569-4E04BABAE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4E449-7B42-1A29-7744-A2058457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49228-CCB7-DFD5-8815-FCBACEC4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56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E1DC-F9FD-396B-EA73-70BA1D9A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A059-4634-5AD7-EE0A-D9BF492E0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07DE9-C1F8-3198-6717-CE65698C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108F7-5835-AD02-32F5-69938ADE0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988E7-95C5-4B47-3CF6-01D6448F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7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11BB9-4B8C-1328-CAAD-CE8AFFD9A2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0D9CD-16F3-7040-1981-56C3EFDF9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6B36F-0B9D-0B15-7CCD-52A10567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2C94-B57A-0FCC-1B1B-39C449DC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C1038-E274-AADF-DA76-88019A4F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2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7F8FF7-6297-8848-DD0D-6D8EC68A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10FDF-DAB0-EE6F-1C6A-21B89817F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7CAF6-ABD9-B7C4-E8AB-9C9BAD7B4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88A57-53B4-C44F-9E00-1E36E2DDD860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EABE4-A642-9E74-FF45-75D934F1D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8F0EC-515D-860F-679C-F78A44C7F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B1618-DF26-0D4F-B69A-DCACBC282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7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AF95-9D40-3C00-4543-80933E9AA5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AWARDS and Memberships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76F2B-1920-88C4-32B2-D8D1E26EFF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04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9366-9D63-9F9D-585A-E48FEE4E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Awards &amp; Grants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CEB3-B9D5-F738-8BE4-E6A3FD64F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Secured </a:t>
            </a:r>
            <a:r>
              <a:rPr lang="en-IN" sz="1800" b="1" dirty="0">
                <a:effectLst/>
                <a:latin typeface="TimesNewRomanPS"/>
              </a:rPr>
              <a:t>first </a:t>
            </a:r>
            <a:r>
              <a:rPr lang="en-IN" sz="1800" dirty="0">
                <a:effectLst/>
                <a:latin typeface="TimesNewRomanPSMT"/>
              </a:rPr>
              <a:t>prize in the “</a:t>
            </a:r>
            <a:r>
              <a:rPr lang="en-IN" sz="1800" dirty="0" err="1">
                <a:effectLst/>
                <a:latin typeface="TimesNewRomanPSMT"/>
              </a:rPr>
              <a:t>Uro</a:t>
            </a:r>
            <a:r>
              <a:rPr lang="en-IN" sz="1800" dirty="0">
                <a:effectLst/>
                <a:latin typeface="TimesNewRomanPSMT"/>
              </a:rPr>
              <a:t> Quiz- USICON 2021”.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Selected for </a:t>
            </a:r>
            <a:r>
              <a:rPr lang="en-IN" sz="1800" b="1" dirty="0">
                <a:effectLst/>
                <a:latin typeface="TimesNewRomanPS"/>
              </a:rPr>
              <a:t>USI Travel fellowship </a:t>
            </a:r>
            <a:r>
              <a:rPr lang="en-IN" sz="1800" dirty="0">
                <a:effectLst/>
                <a:latin typeface="TimesNewRomanPSMT"/>
              </a:rPr>
              <a:t>for the year 2021.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NewRomanPS"/>
              </a:rPr>
              <a:t>Second Prize </a:t>
            </a:r>
            <a:r>
              <a:rPr lang="en-IN" sz="1800" dirty="0">
                <a:effectLst/>
                <a:latin typeface="TimesNewRomanPSMT"/>
              </a:rPr>
              <a:t>is CMC best poster for NZUSICON 2021.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NewRomanPS"/>
              </a:rPr>
              <a:t>Second Prize </a:t>
            </a:r>
            <a:r>
              <a:rPr lang="en-IN" sz="1800" dirty="0">
                <a:effectLst/>
                <a:latin typeface="TimesNewRomanPSMT"/>
              </a:rPr>
              <a:t>CMC best poster for NZUSICON 2022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Prof DS Subramanyam Gold Medal for best research 2021 (PGIMER)</a:t>
            </a:r>
          </a:p>
          <a:p>
            <a:pPr marL="0" indent="0">
              <a:buNone/>
            </a:pPr>
            <a:endParaRPr lang="en-IN" sz="1800" b="1" dirty="0">
              <a:effectLst/>
              <a:latin typeface="TimesNewRomanPS"/>
            </a:endParaRPr>
          </a:p>
          <a:p>
            <a:pPr marL="0" indent="0">
              <a:buNone/>
            </a:pPr>
            <a:r>
              <a:rPr lang="en-IN" sz="1800" b="1" dirty="0">
                <a:effectLst/>
                <a:latin typeface="TimesNewRomanPS"/>
              </a:rPr>
              <a:t>GRANTS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NewRomanPS"/>
              </a:rPr>
              <a:t>Travel Grant </a:t>
            </a:r>
            <a:r>
              <a:rPr lang="en-IN" sz="1800" dirty="0">
                <a:effectLst/>
                <a:latin typeface="TimesNewRomanPSMT"/>
              </a:rPr>
              <a:t>from </a:t>
            </a:r>
            <a:r>
              <a:rPr lang="en-IN" sz="1800" b="1" dirty="0">
                <a:effectLst/>
                <a:latin typeface="TimesNewRomanPS"/>
              </a:rPr>
              <a:t>“</a:t>
            </a:r>
            <a:r>
              <a:rPr lang="en-IN" sz="1800" b="1" dirty="0" err="1">
                <a:effectLst/>
                <a:latin typeface="TimesNewRomanPS"/>
              </a:rPr>
              <a:t>Vattikuti</a:t>
            </a:r>
            <a:r>
              <a:rPr lang="en-IN" sz="1800" b="1" dirty="0">
                <a:effectLst/>
                <a:latin typeface="TimesNewRomanPS"/>
              </a:rPr>
              <a:t> Foundation” </a:t>
            </a:r>
            <a:r>
              <a:rPr lang="en-IN" sz="1800" dirty="0">
                <a:effectLst/>
                <a:latin typeface="TimesNewRomanPSMT"/>
              </a:rPr>
              <a:t>for </a:t>
            </a:r>
            <a:r>
              <a:rPr lang="en-IN" sz="1800" b="1" dirty="0">
                <a:effectLst/>
                <a:latin typeface="TimesNewRomanPS"/>
              </a:rPr>
              <a:t>EAU 2023 Milan.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effectLst/>
                <a:latin typeface="TimesNewRomanPS"/>
              </a:rPr>
              <a:t>Travel Grant </a:t>
            </a:r>
            <a:r>
              <a:rPr lang="en-IN" sz="1800" dirty="0">
                <a:effectLst/>
                <a:latin typeface="TimesNewRomanPSMT"/>
              </a:rPr>
              <a:t>from </a:t>
            </a:r>
            <a:r>
              <a:rPr lang="en-IN" sz="1800" b="1" dirty="0">
                <a:effectLst/>
                <a:latin typeface="TimesNewRomanPS"/>
              </a:rPr>
              <a:t>“</a:t>
            </a:r>
            <a:r>
              <a:rPr lang="en-IN" sz="1800" b="1" dirty="0" err="1">
                <a:effectLst/>
                <a:latin typeface="TimesNewRomanPS"/>
              </a:rPr>
              <a:t>Vattikuti</a:t>
            </a:r>
            <a:r>
              <a:rPr lang="en-IN" sz="1800" b="1" dirty="0">
                <a:effectLst/>
                <a:latin typeface="TimesNewRomanPS"/>
              </a:rPr>
              <a:t> Foundation” </a:t>
            </a:r>
            <a:r>
              <a:rPr lang="en-IN" sz="1800" dirty="0">
                <a:effectLst/>
                <a:latin typeface="TimesNewRomanPSMT"/>
              </a:rPr>
              <a:t>for </a:t>
            </a:r>
            <a:r>
              <a:rPr lang="en-IN" sz="1800" b="1" dirty="0">
                <a:effectLst/>
                <a:latin typeface="TimesNewRomanPS"/>
              </a:rPr>
              <a:t>RUFCON 2022</a:t>
            </a:r>
            <a:r>
              <a:rPr lang="en-IN" sz="1800" dirty="0">
                <a:effectLst/>
                <a:latin typeface="TimesNewRomanPSMT"/>
              </a:rPr>
              <a:t>, India</a:t>
            </a:r>
            <a:r>
              <a:rPr lang="en-IN" sz="1800" b="1" dirty="0">
                <a:effectLst/>
                <a:latin typeface="TimesNewRomanPS"/>
              </a:rPr>
              <a:t>.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Awarded </a:t>
            </a:r>
            <a:r>
              <a:rPr lang="en-IN" sz="1800" b="1" dirty="0" err="1">
                <a:effectLst/>
                <a:latin typeface="TimesNewRomanPS"/>
              </a:rPr>
              <a:t>Urooncology</a:t>
            </a:r>
            <a:r>
              <a:rPr lang="en-IN" sz="1800" b="1" dirty="0">
                <a:effectLst/>
                <a:latin typeface="TimesNewRomanPS"/>
              </a:rPr>
              <a:t> Travelling Fellowship </a:t>
            </a:r>
            <a:r>
              <a:rPr lang="en-IN" sz="1800" dirty="0">
                <a:effectLst/>
                <a:latin typeface="TimesNewRomanPSMT"/>
              </a:rPr>
              <a:t>grant to Miami Cancer Institute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2021 </a:t>
            </a:r>
            <a:endParaRPr lang="en-IN" sz="1800" dirty="0">
              <a:effectLst/>
              <a:latin typeface="SymbolM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NewRomanPSMT"/>
              </a:rPr>
              <a:t>Visiting Fellowship at San Rafael Hospital Milan Italy, March 2023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SymbolMT"/>
              </a:rPr>
              <a:t>EUSP Travelling Fellowship to Imperial College London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1E1E1E"/>
                </a:solidFill>
                <a:effectLst/>
                <a:latin typeface="TimesNewRomanPSMT"/>
              </a:rPr>
              <a:t>Selected for </a:t>
            </a:r>
            <a:r>
              <a:rPr lang="en-IN" sz="1800" b="1" dirty="0">
                <a:solidFill>
                  <a:srgbClr val="1E1E1E"/>
                </a:solidFill>
                <a:effectLst/>
                <a:latin typeface="TimesNewRomanPS"/>
              </a:rPr>
              <a:t>UAA Young Urologist's Fellowship 2023 </a:t>
            </a:r>
            <a:endParaRPr lang="en-IN" sz="1800" dirty="0">
              <a:effectLst/>
              <a:latin typeface="SymbolM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13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14025-9C42-8AA1-88F2-F0702590E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A294-7F53-FD81-F7A1-5F507412A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Urological society memberships</a:t>
            </a:r>
          </a:p>
          <a:p>
            <a:pPr lvl="1"/>
            <a:r>
              <a:rPr lang="en-US" dirty="0"/>
              <a:t>Urological Society of India</a:t>
            </a:r>
          </a:p>
          <a:p>
            <a:pPr lvl="1"/>
            <a:r>
              <a:rPr lang="en-US" dirty="0"/>
              <a:t>NZUSI</a:t>
            </a:r>
          </a:p>
          <a:p>
            <a:pPr lvl="1"/>
            <a:r>
              <a:rPr lang="en-US" dirty="0"/>
              <a:t>European Association of Urology</a:t>
            </a:r>
          </a:p>
          <a:p>
            <a:pPr lvl="1"/>
            <a:r>
              <a:rPr lang="en-US" dirty="0"/>
              <a:t>American Urological Association</a:t>
            </a:r>
          </a:p>
          <a:p>
            <a:pPr lvl="1"/>
            <a:r>
              <a:rPr lang="en-US" dirty="0"/>
              <a:t>SIU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Editorial Member: IJU, WJUR, BMC Urology</a:t>
            </a:r>
          </a:p>
          <a:p>
            <a:pPr marL="457200" lvl="1" indent="0">
              <a:buNone/>
            </a:pPr>
            <a:r>
              <a:rPr lang="en-US" dirty="0"/>
              <a:t>Council member: YOU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Core committee member: Indian School of Urology (former)</a:t>
            </a:r>
          </a:p>
          <a:p>
            <a:pPr marL="457200" lvl="1" indent="0">
              <a:buNone/>
            </a:pPr>
            <a:r>
              <a:rPr lang="en-US" dirty="0"/>
              <a:t>Scientific committee member: YOU (former)</a:t>
            </a:r>
          </a:p>
          <a:p>
            <a:pPr marL="457200" lvl="1" indent="0">
              <a:buNone/>
            </a:pPr>
            <a:r>
              <a:rPr lang="en-US" dirty="0"/>
              <a:t>Associate member: EAU YAU Group on renal cancers (former)</a:t>
            </a:r>
          </a:p>
        </p:txBody>
      </p:sp>
    </p:spTree>
    <p:extLst>
      <p:ext uri="{BB962C8B-B14F-4D97-AF65-F5344CB8AC3E}">
        <p14:creationId xmlns:p14="http://schemas.microsoft.com/office/powerpoint/2010/main" val="325781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179</Words>
  <Application>Microsoft Macintosh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SymbolMT</vt:lpstr>
      <vt:lpstr>TimesNewRomanPS</vt:lpstr>
      <vt:lpstr>TimesNewRomanPSMT</vt:lpstr>
      <vt:lpstr>Office Theme</vt:lpstr>
      <vt:lpstr>AWARDS and Memberships</vt:lpstr>
      <vt:lpstr>Awards &amp; Grants</vt:lpstr>
      <vt:lpstr>Memberships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AWARDS and Memberships</dc:title>
  <dc:creator>Gopal Sharma</dc:creator>
  <cp:lastModifiedBy>Gopal Sharma</cp:lastModifiedBy>
  <cp:revision>1</cp:revision>
  <dcterms:created xsi:type="dcterms:W3CDTF">2026-03-03T06:34:45Z</dcterms:created>
  <dcterms:modified xsi:type="dcterms:W3CDTF">2026-03-03T06:46:55Z</dcterms:modified>
</cp:coreProperties>
</file>